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0" r:id="rId3"/>
    <p:sldId id="272" r:id="rId4"/>
    <p:sldId id="273" r:id="rId5"/>
    <p:sldId id="274" r:id="rId6"/>
    <p:sldId id="275" r:id="rId7"/>
    <p:sldId id="277" r:id="rId8"/>
    <p:sldId id="279" r:id="rId9"/>
    <p:sldId id="280" r:id="rId10"/>
    <p:sldId id="282" r:id="rId11"/>
    <p:sldId id="283" r:id="rId12"/>
    <p:sldId id="285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9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 i="0">
                <a:solidFill>
                  <a:srgbClr val="A40C46"/>
                </a:solidFill>
                <a:latin typeface="Times New Roman"/>
              </a:rPr>
              <a:t>Zombie Outbreak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07592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A40C46"/>
                </a:solidFill>
                <a:latin typeface="Times New Roman"/>
              </a:rPr>
              <a:t>A Continuous-Space Multi-Agent Survival and Escape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61488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2D2D2D"/>
                </a:solidFill>
                <a:latin typeface="Times New Roman"/>
              </a:rPr>
              <a:t>PRESENTED TO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72968"/>
            <a:ext cx="1124712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 dirty="0">
                <a:solidFill>
                  <a:srgbClr val="2D2D2D"/>
                </a:solidFill>
                <a:latin typeface="Times New Roman"/>
              </a:rPr>
              <a:t>Ms. </a:t>
            </a:r>
            <a:r>
              <a:rPr lang="en-IN" sz="2100" b="1" dirty="0" err="1">
                <a:solidFill>
                  <a:srgbClr val="2D2D2D"/>
                </a:solidFill>
                <a:latin typeface="Times New Roman"/>
              </a:rPr>
              <a:t>Suveetha</a:t>
            </a:r>
            <a:r>
              <a:rPr lang="en-IN" sz="2100" b="1" dirty="0">
                <a:solidFill>
                  <a:srgbClr val="2D2D2D"/>
                </a:solidFill>
                <a:latin typeface="Times New Roman"/>
              </a:rPr>
              <a:t> </a:t>
            </a:r>
            <a:endParaRPr sz="2100" b="1" i="0" dirty="0">
              <a:solidFill>
                <a:srgbClr val="2D2D2D"/>
              </a:solidFill>
              <a:latin typeface="Times New Roman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005072"/>
            <a:ext cx="11247120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GB" sz="2200" b="1" i="0" dirty="0">
                <a:solidFill>
                  <a:srgbClr val="2D2D2D"/>
                </a:solidFill>
                <a:latin typeface="Times New Roman"/>
              </a:rPr>
              <a:t>PRESENTED FROM :</a:t>
            </a:r>
          </a:p>
          <a:p>
            <a:pPr algn="ctr"/>
            <a:r>
              <a:rPr sz="2200" b="1" i="0" dirty="0">
                <a:solidFill>
                  <a:srgbClr val="2D2D2D"/>
                </a:solidFill>
                <a:latin typeface="Times New Roman"/>
              </a:rPr>
              <a:t>Ritu Solanki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83073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 i="0">
                <a:solidFill>
                  <a:srgbClr val="2D2D2D"/>
                </a:solidFill>
                <a:latin typeface="Times New Roman"/>
              </a:rPr>
              <a:t>BL.EN.U4CSE23165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Introduction to the Problem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152144"/>
            <a:ext cx="365760" cy="36576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097280"/>
            <a:ext cx="6309360" cy="56692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Times New Roman"/>
              </a:rPr>
              <a:t>Multiple survivor agents operate at the same time in a shared continuous 2D space.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1792224"/>
            <a:ext cx="365760" cy="36576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6309360" cy="56692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Times New Roman"/>
              </a:rPr>
              <a:t>Survivors must navigate geometric obstacles, collect resources and reach a rescue point.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432303"/>
            <a:ext cx="365760" cy="36576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39"/>
            <a:ext cx="6309360" cy="56692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Times New Roman"/>
              </a:rPr>
              <a:t>Zombies pursue survivors dynamically and create adversarial pressure.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72384"/>
            <a:ext cx="365760" cy="36576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017520"/>
            <a:ext cx="6309360" cy="56692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Times New Roman"/>
              </a:rPr>
              <a:t>Infection can create a new zombie, changing the threat landscape.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3712463"/>
            <a:ext cx="365760" cy="36576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6309360" cy="56692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Times New Roman"/>
              </a:rPr>
              <a:t>Threats can make a planned route unsafe and force replanning.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4352544"/>
            <a:ext cx="365760" cy="36576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297680"/>
            <a:ext cx="6309360" cy="566928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0" i="0">
                <a:solidFill>
                  <a:srgbClr val="2D2D2D"/>
                </a:solidFill>
                <a:latin typeface="Times New Roman"/>
              </a:rPr>
              <a:t>Goal: maximize survivors rescued while minimizing infection, unnecessary movement and planning cost.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051560"/>
            <a:ext cx="4114800" cy="274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300" b="1" i="0">
                <a:solidFill>
                  <a:srgbClr val="A40C46"/>
                </a:solidFill>
                <a:latin typeface="Times New Roman"/>
              </a:rPr>
              <a:t>Conceptual continuous-space environment</a:t>
            </a:r>
          </a:p>
        </p:txBody>
      </p:sp>
      <p:sp>
        <p:nvSpPr>
          <p:cNvPr id="18" name="Illustration frame"/>
          <p:cNvSpPr/>
          <p:nvPr/>
        </p:nvSpPr>
        <p:spPr>
          <a:xfrm>
            <a:off x="7589520" y="1371600"/>
            <a:ext cx="4114800" cy="32918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World boundary"/>
          <p:cNvSpPr/>
          <p:nvPr/>
        </p:nvSpPr>
        <p:spPr>
          <a:xfrm>
            <a:off x="7772400" y="1508760"/>
            <a:ext cx="3749039" cy="3017520"/>
          </a:xfrm>
          <a:prstGeom prst="rect">
            <a:avLst/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Obstacle circle"/>
          <p:cNvSpPr/>
          <p:nvPr/>
        </p:nvSpPr>
        <p:spPr>
          <a:xfrm>
            <a:off x="8503920" y="1828800"/>
            <a:ext cx="868680" cy="868680"/>
          </a:xfrm>
          <a:prstGeom prst="ellipse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1" name="Obstacle rect"/>
          <p:cNvSpPr/>
          <p:nvPr/>
        </p:nvSpPr>
        <p:spPr>
          <a:xfrm rot="900000">
            <a:off x="9555480" y="3429000"/>
            <a:ext cx="1188720" cy="457200"/>
          </a:xfrm>
          <a:prstGeom prst="rect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Obstacle triangle"/>
          <p:cNvSpPr/>
          <p:nvPr/>
        </p:nvSpPr>
        <p:spPr>
          <a:xfrm>
            <a:off x="10607040" y="2011680"/>
            <a:ext cx="640080" cy="566928"/>
          </a:xfrm>
          <a:prstGeom prst="triangle">
            <a:avLst/>
          </a:prstGeom>
          <a:solidFill>
            <a:srgbClr val="7070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 flipV="1">
            <a:off x="8092440" y="3017520"/>
            <a:ext cx="137160" cy="1143000"/>
          </a:xfrm>
          <a:prstGeom prst="line">
            <a:avLst/>
          </a:prstGeom>
          <a:ln w="22225">
            <a:solidFill>
              <a:srgbClr val="A40C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229600" y="3017520"/>
            <a:ext cx="1417320" cy="0"/>
          </a:xfrm>
          <a:prstGeom prst="line">
            <a:avLst/>
          </a:prstGeom>
          <a:ln w="22225">
            <a:solidFill>
              <a:srgbClr val="A40C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646920" y="2743200"/>
            <a:ext cx="548640" cy="274320"/>
          </a:xfrm>
          <a:prstGeom prst="line">
            <a:avLst/>
          </a:prstGeom>
          <a:ln w="22225">
            <a:solidFill>
              <a:srgbClr val="A40C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195560" y="1783080"/>
            <a:ext cx="137160" cy="960120"/>
          </a:xfrm>
          <a:prstGeom prst="line">
            <a:avLst/>
          </a:prstGeom>
          <a:ln w="22225">
            <a:solidFill>
              <a:srgbClr val="A40C46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8165592" y="295351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582912" y="295351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31552" y="267919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955279" y="4023360"/>
            <a:ext cx="292608" cy="29260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S</a:t>
            </a:r>
          </a:p>
        </p:txBody>
      </p:sp>
      <p:sp>
        <p:nvSpPr>
          <p:cNvPr id="31" name="Oval 30"/>
          <p:cNvSpPr/>
          <p:nvPr/>
        </p:nvSpPr>
        <p:spPr>
          <a:xfrm>
            <a:off x="8732520" y="3840480"/>
            <a:ext cx="292608" cy="29260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S</a:t>
            </a:r>
          </a:p>
        </p:txBody>
      </p:sp>
      <p:sp>
        <p:nvSpPr>
          <p:cNvPr id="32" name="Oval 31"/>
          <p:cNvSpPr/>
          <p:nvPr/>
        </p:nvSpPr>
        <p:spPr>
          <a:xfrm>
            <a:off x="9326880" y="2240280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Z</a:t>
            </a:r>
          </a:p>
        </p:txBody>
      </p:sp>
      <p:sp>
        <p:nvSpPr>
          <p:cNvPr id="33" name="Oval 32"/>
          <p:cNvSpPr/>
          <p:nvPr/>
        </p:nvSpPr>
        <p:spPr>
          <a:xfrm>
            <a:off x="10058400" y="3977639"/>
            <a:ext cx="310896" cy="310896"/>
          </a:xfrm>
          <a:prstGeom prst="ellipse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Z</a:t>
            </a:r>
          </a:p>
        </p:txBody>
      </p:sp>
      <p:sp>
        <p:nvSpPr>
          <p:cNvPr id="34" name="Oval 33"/>
          <p:cNvSpPr/>
          <p:nvPr/>
        </p:nvSpPr>
        <p:spPr>
          <a:xfrm>
            <a:off x="10241280" y="1627632"/>
            <a:ext cx="310896" cy="31089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Times New Roman"/>
              </a:rPr>
              <a:t>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681728"/>
            <a:ext cx="4114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100" b="0" i="1">
                <a:solidFill>
                  <a:srgbClr val="4D4D4D"/>
                </a:solidFill>
                <a:latin typeface="Times New Roman"/>
              </a:rPr>
              <a:t>S = Survivor    Z = Zombie    R = Rescue    ○ = waypoint</a:t>
            </a:r>
          </a:p>
          <a:p>
            <a:pPr algn="ctr"/>
            <a:r>
              <a:rPr sz="1100" b="0" i="1">
                <a:solidFill>
                  <a:srgbClr val="4D4D4D"/>
                </a:solidFill>
                <a:latin typeface="Times New Roman"/>
              </a:rPr>
              <a:t>Schematic only, not application output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3035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A40C46"/>
                </a:solidFill>
                <a:latin typeface="Times New Roman"/>
              </a:rPr>
              <a:t>Route planning</a:t>
            </a:r>
          </a:p>
          <a:p>
            <a:pPr algn="ctr"/>
            <a:r>
              <a:rPr sz="1200" b="0" i="0">
                <a:solidFill>
                  <a:srgbClr val="2D2D2D"/>
                </a:solidFill>
                <a:latin typeface="Times New Roman"/>
              </a:rPr>
              <a:t>A* or GBFS on a shared graph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319272" y="53035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A40C46"/>
                </a:solidFill>
                <a:latin typeface="Times New Roman"/>
              </a:rPr>
              <a:t>Threat avoidance</a:t>
            </a:r>
          </a:p>
          <a:p>
            <a:pPr algn="ctr"/>
            <a:r>
              <a:rPr sz="1200" b="0" i="0">
                <a:solidFill>
                  <a:srgbClr val="2D2D2D"/>
                </a:solidFill>
                <a:latin typeface="Times New Roman"/>
              </a:rPr>
              <a:t>Nearby zombies trigger local caution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1344" y="53035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A40C46"/>
                </a:solidFill>
                <a:latin typeface="Times New Roman"/>
              </a:rPr>
              <a:t>Infection dynamics</a:t>
            </a:r>
          </a:p>
          <a:p>
            <a:pPr algn="ctr"/>
            <a:r>
              <a:rPr sz="1200" b="0" i="0">
                <a:solidFill>
                  <a:srgbClr val="2D2D2D"/>
                </a:solidFill>
                <a:latin typeface="Times New Roman"/>
              </a:rPr>
              <a:t>Infection adds zombies and changes risk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43416" y="5303520"/>
            <a:ext cx="2697480" cy="86868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A40C46"/>
                </a:solidFill>
                <a:latin typeface="Times New Roman"/>
              </a:rPr>
              <a:t>Tactical decisions</a:t>
            </a:r>
          </a:p>
          <a:p>
            <a:pPr algn="ctr"/>
            <a:r>
              <a:rPr sz="1200" b="0" i="0">
                <a:solidFill>
                  <a:srgbClr val="2D2D2D"/>
                </a:solidFill>
                <a:latin typeface="Times New Roman"/>
              </a:rPr>
              <a:t>Alpha–Beta picks safer local moves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PEAS &amp; Environment Properties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1737360" cy="5029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PEAS Component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097280"/>
            <a:ext cx="5715000" cy="5029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Description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691640"/>
            <a:ext cx="1737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2D2D2D"/>
                </a:solidFill>
                <a:latin typeface="Times New Roman"/>
              </a:rPr>
              <a:t>Performance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80" y="169164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Maximize rescue success while reducing infections, unnecessary movement and computational planning cost.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70632"/>
            <a:ext cx="1737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2D2D2D"/>
                </a:solidFill>
                <a:latin typeface="Times New Roman"/>
              </a:rPr>
              <a:t>Environment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0280" y="2770632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Continuous 2D space with geometric obstacles, resources, survivors, zombies and rescue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49624"/>
            <a:ext cx="1737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2D2D2D"/>
                </a:solidFill>
                <a:latin typeface="Times New Roman"/>
              </a:rPr>
              <a:t>Actuators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3849624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Continuous steering and movement, waiting, resource collection, target changes and replanning.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28616"/>
            <a:ext cx="173736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2D2D2D"/>
                </a:solidFill>
                <a:latin typeface="Times New Roman"/>
              </a:rPr>
              <a:t>Sensors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40280" y="4928616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Floating-point positions, obstacle geometry, target status, zombie distances and simulation state.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9184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800" b="1" i="0">
                <a:solidFill>
                  <a:srgbClr val="A40C46"/>
                </a:solidFill>
                <a:latin typeface="Times New Roman"/>
              </a:rPr>
              <a:t>Environment Properties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691640"/>
            <a:ext cx="3319272" cy="566928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A40C46"/>
                </a:solidFill>
                <a:latin typeface="Times New Roman"/>
              </a:rPr>
              <a:t>Multi-Agent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2404872"/>
            <a:ext cx="3319272" cy="566928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A40C46"/>
                </a:solidFill>
                <a:latin typeface="Times New Roman"/>
              </a:rPr>
              <a:t>Dynamic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3118104"/>
            <a:ext cx="3319272" cy="566928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A40C46"/>
                </a:solidFill>
                <a:latin typeface="Times New Roman"/>
              </a:rPr>
              <a:t>Sequential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831335"/>
            <a:ext cx="3319272" cy="566928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Continuous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4544568"/>
            <a:ext cx="3319272" cy="566928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lang="en-GB" sz="1500" b="1" i="0" dirty="0">
                <a:solidFill>
                  <a:srgbClr val="A40C46"/>
                </a:solidFill>
                <a:latin typeface="Times New Roman"/>
              </a:rPr>
              <a:t>Fully Observable</a:t>
            </a:r>
            <a:endParaRPr sz="1500" b="1" i="0" dirty="0">
              <a:solidFill>
                <a:srgbClr val="A40C46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Multi-Agent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12736" y="1967765"/>
            <a:ext cx="5971032" cy="640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 dirty="0">
                <a:solidFill>
                  <a:srgbClr val="2D2D2D"/>
                </a:solidFill>
                <a:latin typeface="Times New Roman"/>
              </a:rPr>
              <a:t>Shared Continuous Environment</a:t>
            </a:r>
          </a:p>
          <a:p>
            <a:pPr algn="ctr"/>
            <a:r>
              <a:rPr sz="1200" b="0" i="0" dirty="0">
                <a:solidFill>
                  <a:srgbClr val="2D2D2D"/>
                </a:solidFill>
                <a:latin typeface="Times New Roman"/>
              </a:rPr>
              <a:t>geometric obstacles · resources · rescue point · scenario settings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3874" y="2592003"/>
            <a:ext cx="0" cy="18288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</p:cNvCxnSpPr>
          <p:nvPr/>
        </p:nvCxnSpPr>
        <p:spPr>
          <a:xfrm>
            <a:off x="1645318" y="2774883"/>
            <a:ext cx="6402003" cy="0"/>
          </a:xfrm>
          <a:prstGeom prst="line">
            <a:avLst/>
          </a:prstGeom>
          <a:ln w="19050">
            <a:solidFill>
              <a:srgbClr val="666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645318" y="2774883"/>
            <a:ext cx="0" cy="274320"/>
          </a:xfrm>
          <a:prstGeom prst="line">
            <a:avLst/>
          </a:prstGeom>
          <a:ln w="1905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891438" y="2774883"/>
            <a:ext cx="0" cy="274320"/>
          </a:xfrm>
          <a:prstGeom prst="line">
            <a:avLst/>
          </a:prstGeom>
          <a:ln w="1905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047321" y="2774883"/>
            <a:ext cx="0" cy="274320"/>
          </a:xfrm>
          <a:prstGeom prst="line">
            <a:avLst/>
          </a:prstGeom>
          <a:ln w="19050">
            <a:solidFill>
              <a:srgbClr val="66666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1349" y="3031557"/>
            <a:ext cx="2377440" cy="128016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A40C46"/>
                </a:solidFill>
                <a:latin typeface="Times New Roman"/>
              </a:rPr>
              <a:t>Survivor 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74087" y="3040380"/>
            <a:ext cx="1947672" cy="128016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A40C46"/>
                </a:solidFill>
                <a:latin typeface="Times New Roman"/>
              </a:rPr>
              <a:t>Zombie Agents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08358" y="3049203"/>
            <a:ext cx="356616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31750">
            <a:solidFill>
              <a:srgbClr val="0E7C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08358" y="3094923"/>
            <a:ext cx="35661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1" i="0">
                <a:solidFill>
                  <a:srgbClr val="1B2A49"/>
                </a:solidFill>
                <a:latin typeface="Times New Roman"/>
              </a:rPr>
              <a:t>Global Path Planner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6958" y="3506403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A*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158" y="3506403"/>
            <a:ext cx="1508760" cy="64008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GBFS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From Initialization to Outcome: System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94360" y="123443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Initialize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57400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Create the environment, survivors and zombies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097280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905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880360" y="123443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1691640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Select planner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057400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Choose A* or GBFS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097280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166360" y="123443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1691640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Visibility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2057400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Construct or reuse the shared 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1097280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452360" y="123443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691640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Plan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2057400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Survivor position to target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3063239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880360" y="320039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Times New Roman"/>
              </a:rPr>
              <a:t>6</a:t>
            </a:r>
            <a:endParaRPr sz="1400" b="1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834640" y="3657599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Move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023359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Execute bounded continuous movement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0" y="3063239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5166360" y="320039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Times New Roman"/>
              </a:rPr>
              <a:t>7</a:t>
            </a:r>
            <a:endParaRPr sz="1400" b="1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120640" y="3657599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Update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0" y="4023359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Resources, infection and positions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0" y="3063239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7452360" y="320039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Times New Roman"/>
              </a:rPr>
              <a:t>8</a:t>
            </a:r>
            <a:endParaRPr sz="1400" b="1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406640" y="3657599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Replan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06640" y="4023359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Whenever the state changes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601200" y="3063239"/>
            <a:ext cx="2130552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738360" y="3200399"/>
            <a:ext cx="384048" cy="384048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lang="en-GB" sz="1400" b="1" dirty="0">
                <a:solidFill>
                  <a:srgbClr val="FFFFFF"/>
                </a:solidFill>
                <a:latin typeface="Times New Roman"/>
              </a:rPr>
              <a:t>9</a:t>
            </a:r>
            <a:endParaRPr sz="1400" b="1" i="0" dirty="0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92640" y="3657599"/>
            <a:ext cx="1947672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600" b="1" i="0">
                <a:solidFill>
                  <a:srgbClr val="A40C46"/>
                </a:solidFill>
                <a:latin typeface="Times New Roman"/>
              </a:rPr>
              <a:t>Record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4023359"/>
            <a:ext cx="1947672" cy="7772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Planner metrics and simulation outcome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A* versus Greedy Best-First Search (GBFS)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A* Search</a:t>
            </a:r>
            <a:r>
              <a:rPr sz="1300" b="0" i="1">
                <a:solidFill>
                  <a:srgbClr val="FFFFFF"/>
                </a:solidFill>
                <a:latin typeface="Times New Roman"/>
              </a:rPr>
              <a:t>   balances cost so far and distance left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5212080" cy="6400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2600" b="1" i="0">
                <a:solidFill>
                  <a:srgbClr val="A40C46"/>
                </a:solidFill>
                <a:latin typeface="Times New Roman"/>
              </a:rPr>
              <a:t>f(n) = g(n) + h(n)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5029200" cy="2560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Accounts for both accumulated route cost g(n) and estimated remaining cost h(n).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Uses Euclidean geometric costs and a Euclidean heuristic on the shared visibility graph.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With nonnegative edge costs and an admissible heuristic, it can find a minimum-cost route under the graph's cost model.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1097280"/>
            <a:ext cx="54864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82512" y="1234440"/>
            <a:ext cx="5212080" cy="566928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Greedy Best-First Search</a:t>
            </a:r>
            <a:r>
              <a:rPr sz="1300" b="0" i="1">
                <a:solidFill>
                  <a:srgbClr val="FFFFFF"/>
                </a:solidFill>
                <a:latin typeface="Times New Roman"/>
              </a:rPr>
              <a:t>   follows the estimate to the 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874519"/>
            <a:ext cx="5212080" cy="6400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2600" b="1" i="0">
                <a:solidFill>
                  <a:srgbClr val="0E7C86"/>
                </a:solidFill>
                <a:latin typeface="Times New Roman"/>
              </a:rPr>
              <a:t>f(n) = h(n)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606040"/>
            <a:ext cx="5029200" cy="25603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Prioritizes nodes that appear closest to the target.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Ignores accumulated path cost in node priority.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May find a route with less search effort in some scenarios.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Does not generally guarantee the minimum-cost route.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The Four Evaluation Scenarios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697480" cy="3108960"/>
          </a:xfrm>
          <a:prstGeom prst="roundRect">
            <a:avLst>
              <a:gd name="adj" fmla="val 7000"/>
            </a:avLst>
          </a:prstGeom>
          <a:solidFill>
            <a:srgbClr val="F9E4EC"/>
          </a:solidFill>
          <a:ln w="1905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54480" y="1371600"/>
            <a:ext cx="502920" cy="50292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251460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900" b="1" i="0">
                <a:solidFill>
                  <a:srgbClr val="A40C46"/>
                </a:solidFill>
                <a:latin typeface="Times New Roman"/>
              </a:rPr>
              <a:t>Normal Escape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3317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Times New Roman"/>
              </a:rPr>
              <a:t>Baseline navigation toward the rescue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188720"/>
            <a:ext cx="2697480" cy="3108960"/>
          </a:xfrm>
          <a:prstGeom prst="roundRect">
            <a:avLst>
              <a:gd name="adj" fmla="val 7000"/>
            </a:avLst>
          </a:prstGeom>
          <a:solidFill>
            <a:srgbClr val="F9E4EC"/>
          </a:solidFill>
          <a:ln w="1905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16552" y="1371600"/>
            <a:ext cx="502920" cy="50292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2011680"/>
            <a:ext cx="251460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900" b="1" i="0">
                <a:solidFill>
                  <a:srgbClr val="A40C46"/>
                </a:solidFill>
                <a:latin typeface="Times New Roman"/>
              </a:rPr>
              <a:t>Close Encounter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788920"/>
            <a:ext cx="23317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Times New Roman"/>
              </a:rPr>
              <a:t>A zombie enters the danger radius; Alpha–Beta handles the local choice.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188720"/>
            <a:ext cx="2697480" cy="3108960"/>
          </a:xfrm>
          <a:prstGeom prst="roundRect">
            <a:avLst>
              <a:gd name="adj" fmla="val 7000"/>
            </a:avLst>
          </a:prstGeom>
          <a:solidFill>
            <a:srgbClr val="F9E4EC"/>
          </a:solidFill>
          <a:ln w="1905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78624" y="1371600"/>
            <a:ext cx="502920" cy="50292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3" y="2011680"/>
            <a:ext cx="251460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900" b="1" i="0">
                <a:solidFill>
                  <a:srgbClr val="A40C46"/>
                </a:solidFill>
                <a:latin typeface="Times New Roman"/>
              </a:rPr>
              <a:t>Resource Detour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788920"/>
            <a:ext cx="23317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Times New Roman"/>
              </a:rPr>
              <a:t>Collect a required resource, then continue to the rescue point.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43416" y="1188720"/>
            <a:ext cx="2697480" cy="3108960"/>
          </a:xfrm>
          <a:prstGeom prst="roundRect">
            <a:avLst>
              <a:gd name="adj" fmla="val 7000"/>
            </a:avLst>
          </a:prstGeom>
          <a:solidFill>
            <a:srgbClr val="F9E4EC"/>
          </a:solidFill>
          <a:ln w="1905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140696" y="1371600"/>
            <a:ext cx="502920" cy="502920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011680"/>
            <a:ext cx="2514600" cy="73152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/>
            <a:r>
              <a:rPr sz="1900" b="1" i="0">
                <a:solidFill>
                  <a:srgbClr val="A40C46"/>
                </a:solidFill>
                <a:latin typeface="Times New Roman"/>
              </a:rPr>
              <a:t>Emergency Outbreak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6296" y="2788920"/>
            <a:ext cx="2331720" cy="13716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  <a:latin typeface="Times New Roman"/>
              </a:rPr>
              <a:t>Infection creates a new zombie and triggers replanning.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663440"/>
            <a:ext cx="11274552" cy="1234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36576" rIns="228600" bIns="36576" rtlCol="0" anchor="ctr"/>
          <a:lstStyle/>
          <a:p>
            <a:pPr algn="l"/>
            <a:r>
              <a:rPr sz="1400" b="1" i="0">
                <a:solidFill>
                  <a:srgbClr val="1B2A49"/>
                </a:solidFill>
                <a:latin typeface="Times New Roman"/>
              </a:rPr>
              <a:t>Same four scenarios, two planners. </a:t>
            </a:r>
            <a:r>
              <a:rPr sz="1400" b="0" i="0">
                <a:solidFill>
                  <a:srgbClr val="2D2D2D"/>
                </a:solidFill>
                <a:latin typeface="Times New Roman"/>
              </a:rPr>
              <a:t>Each scenario is run with A* and with GBFS from identical starting positions, obstacle geometry, resource locations, rescue points and simulation limits. Unreachable or deadlock-style conditions are handled without letting a run continue indefinitely.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Graphical Interface</a:t>
            </a:r>
          </a:p>
        </p:txBody>
      </p:sp>
      <p:sp>
        <p:nvSpPr>
          <p:cNvPr id="5" name="GUI screenshot placeholder"/>
          <p:cNvSpPr/>
          <p:nvPr/>
        </p:nvSpPr>
        <p:spPr>
          <a:xfrm>
            <a:off x="457200" y="1097280"/>
            <a:ext cx="5669280" cy="4206240"/>
          </a:xfrm>
          <a:prstGeom prst="roundRect">
            <a:avLst>
              <a:gd name="adj" fmla="val 3000"/>
            </a:avLst>
          </a:prstGeom>
          <a:solidFill>
            <a:srgbClr val="F2F2F2"/>
          </a:solidFill>
          <a:ln w="19050">
            <a:solidFill>
              <a:srgbClr val="4D4D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700" b="1" i="0">
                <a:solidFill>
                  <a:srgbClr val="4D4D4D"/>
                </a:solidFill>
                <a:latin typeface="Times New Roman"/>
              </a:rPr>
              <a:t>Insert screenshot of the latest GUI</a:t>
            </a:r>
          </a:p>
          <a:p>
            <a:pPr algn="ctr"/>
            <a:r>
              <a:rPr sz="1300" b="0" i="1">
                <a:solidFill>
                  <a:srgbClr val="4D4D4D"/>
                </a:solidFill>
                <a:latin typeface="Times New Roman"/>
              </a:rPr>
              <a:t>No application screenshot was supplied with the update files; add a real capture here.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097280"/>
            <a:ext cx="533095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537960" y="135331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152144"/>
            <a:ext cx="4526280" cy="8229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1" i="0">
                <a:solidFill>
                  <a:srgbClr val="A40C46"/>
                </a:solidFill>
                <a:latin typeface="Times New Roman"/>
              </a:rPr>
              <a:t>Algorithm selector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Choose A* or GBFS for the global path planner.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48839"/>
            <a:ext cx="533095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37960" y="240487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2203703"/>
            <a:ext cx="4526280" cy="8229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1" i="0">
                <a:solidFill>
                  <a:srgbClr val="A40C46"/>
                </a:solidFill>
                <a:latin typeface="Times New Roman"/>
              </a:rPr>
              <a:t>Path-planner performance panel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Shows metrics for the selected algorithm.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200400"/>
            <a:ext cx="533095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537960" y="345643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255264"/>
            <a:ext cx="4526280" cy="8229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1" i="0">
                <a:solidFill>
                  <a:srgbClr val="A40C46"/>
                </a:solidFill>
                <a:latin typeface="Times New Roman"/>
              </a:rPr>
              <a:t>Live updates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Metrics update while simulation steps execute.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4251959"/>
            <a:ext cx="533095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537960" y="450799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4306823"/>
            <a:ext cx="4526280" cy="82296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500" b="1" i="0">
                <a:solidFill>
                  <a:srgbClr val="A40C46"/>
                </a:solidFill>
                <a:latin typeface="Times New Roman"/>
              </a:rPr>
              <a:t>Frozen when paused or terminated</a:t>
            </a:r>
          </a:p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Values stay unchanged until the simulation resumes or is reset.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321808"/>
            <a:ext cx="5330952" cy="73152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l"/>
            <a:r>
              <a:rPr sz="1200" b="1" i="0">
                <a:solidFill>
                  <a:srgbClr val="A40C46"/>
                </a:solidFill>
                <a:latin typeface="Times New Roman"/>
              </a:rPr>
              <a:t>Removed from the latest GUI: </a:t>
            </a:r>
            <a:r>
              <a:rPr sz="1200" b="0" i="0">
                <a:solidFill>
                  <a:srgbClr val="2D2D2D"/>
                </a:solidFill>
                <a:latin typeface="Times New Roman"/>
              </a:rPr>
              <a:t>Fast Forward, Alpha–Beta Search Tree button, Mission Telemetry box and a separate Run A* vs GBFS Study button.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94960"/>
            <a:ext cx="566928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200" b="0" i="1">
                <a:solidFill>
                  <a:srgbClr val="4D4D4D"/>
                </a:solidFill>
                <a:latin typeface="Times New Roman"/>
              </a:rPr>
              <a:t>The dedicated A* vs GBFS study is run outside the GUI (command line, where supported by the current project version).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Simulation Results and Performance Comparison</a:t>
            </a:r>
          </a:p>
        </p:txBody>
      </p:sp>
      <p:graphicFrame>
        <p:nvGraphicFramePr>
          <p:cNvPr id="5" name="Results table"/>
          <p:cNvGraphicFramePr>
            <a:graphicFrameLocks noGrp="1"/>
          </p:cNvGraphicFramePr>
          <p:nvPr/>
        </p:nvGraphicFramePr>
        <p:xfrm>
          <a:off x="457200" y="1051560"/>
          <a:ext cx="11274552" cy="42976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075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Algorithm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Planning Calls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Planning Success Rate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Nodes Expanded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Planning Time (ms)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Mean Route Length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Survivors Rescued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Survivors Infected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A40C46"/>
                      </a:solidFill>
                    </a:lnB>
                    <a:solidFill>
                      <a:srgbClr val="A40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1. Normal Escape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420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45.00%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1,045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363.05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7.78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A40C4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E7C8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418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44.98%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986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363.09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8.35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2. Close Encounter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246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89.84%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788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221.31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8.86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E7C8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244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89.75%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724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232.91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9.13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3. Resource Detour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596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100.00%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1,844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532.35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5.62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0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E7C8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597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100.00%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1,813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554.79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5.67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0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4. Emergency Outbreak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A40C46"/>
                          </a:solidFill>
                          <a:latin typeface="Times New Roman"/>
                        </a:rPr>
                        <a:t>A*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411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42.34%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1,111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381.83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6.93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0E7C86"/>
                          </a:solidFill>
                          <a:latin typeface="Times New Roman"/>
                        </a:rPr>
                        <a:t>GBFS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410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42.20%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1,109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365.60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E0F1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7.21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 / 3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D2D2D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rgbClr val="E1E1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1E1E1"/>
                      </a:solidFill>
                    </a:lnB>
                    <a:solidFill>
                      <a:srgbClr val="FB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486400"/>
            <a:ext cx="274320" cy="237744"/>
          </a:xfrm>
          <a:prstGeom prst="rect">
            <a:avLst/>
          </a:prstGeom>
          <a:solidFill>
            <a:srgbClr val="E0F1F2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5440680"/>
            <a:ext cx="10881360" cy="329184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l"/>
            <a:r>
              <a:rPr sz="1200" b="0" i="0">
                <a:solidFill>
                  <a:srgbClr val="2D2D2D"/>
                </a:solidFill>
                <a:latin typeface="Times New Roman"/>
              </a:rPr>
              <a:t>Shaded: better value within each scenario pair (fewer nodes, less time, shorter route, higher success rate); ties are not shaded.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1100" b="0" i="1">
                <a:solidFill>
                  <a:srgbClr val="4D4D4D"/>
                </a:solidFill>
                <a:latin typeface="Times New Roman"/>
              </a:rPr>
              <a:t>Source: A* vs GBFS comparison output (comparison_results_sample.csv), one run per scenario and algorithm; no repeated seeds, so no mean ± SD. Route length in simulation units as recorded.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Interpreting the Measured Results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Fewer nodes?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1097280"/>
            <a:ext cx="5989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GBFS in all four scenarios, but the margin is small (0.2–8.1%; under 1% in scenario 4).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Lower planning time?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920240"/>
            <a:ext cx="5989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Mixed. A* was faster in scenarios 2 and 3, GBFS in 4, near tie in 1: fewer nodes did not consistently mean less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Route length?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743200"/>
            <a:ext cx="5989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A* was shorter in every scenario (GBFS longer by 1.0–7.3%), consistent with A*'s cost-aware search.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Planning success?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51760" y="3566160"/>
            <a:ext cx="5989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Nearly identical (largest gap 0.14 points). Both are low in scenarios 1 and 4 (about 42–45%).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8912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Rescue outcomes?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4389120"/>
            <a:ext cx="5989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Identical for both planners: 1, 1, 0 and 1 of 3 rescued; 1, 2, 1 and 1 infected.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212080"/>
            <a:ext cx="2148840" cy="731520"/>
          </a:xfrm>
          <a:prstGeom prst="roundRect">
            <a:avLst>
              <a:gd name="adj" fmla="val 8000"/>
            </a:avLst>
          </a:prstGeom>
          <a:solidFill>
            <a:srgbClr val="A40C46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Computational cost?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651760" y="5212080"/>
            <a:ext cx="598932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36576" rIns="109728" bIns="36576" rtlCol="0" anchor="ctr"/>
          <a:lstStyle/>
          <a:p>
            <a:pPr algn="l"/>
            <a:r>
              <a:rPr sz="1300" b="0" i="0">
                <a:solidFill>
                  <a:srgbClr val="2D2D2D"/>
                </a:solidFill>
                <a:latin typeface="Times New Roman"/>
              </a:rPr>
              <a:t>Same order for both: about 221–555 ms of recorded planning time per run.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15400" y="1097280"/>
            <a:ext cx="2816352" cy="233172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/>
            <a:r>
              <a:rPr sz="1400" b="1" i="0">
                <a:solidFill>
                  <a:srgbClr val="A40C46"/>
                </a:solidFill>
                <a:latin typeface="Times New Roman"/>
              </a:rPr>
              <a:t>Planner metrics vs outcomes</a:t>
            </a:r>
          </a:p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Rescue and infection depend on navigation, zombie pursuit, resources and the shared Alpha–Beta controller, not on the planner alone.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3566160"/>
            <a:ext cx="2816352" cy="2286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5875">
            <a:solidFill>
              <a:srgbClr val="4D4D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t"/>
          <a:lstStyle/>
          <a:p>
            <a:pPr algn="l"/>
            <a:r>
              <a:rPr sz="1400" b="1" i="0">
                <a:solidFill>
                  <a:srgbClr val="1B2A49"/>
                </a:solidFill>
                <a:latin typeface="Times New Roman"/>
              </a:rPr>
              <a:t>Read with caution</a:t>
            </a:r>
          </a:p>
          <a:p>
            <a:pPr algn="l"/>
            <a:r>
              <a:rPr sz="1400" b="0" i="0">
                <a:solidFill>
                  <a:srgbClr val="2D2D2D"/>
                </a:solidFill>
                <a:latin typeface="Times New Roman"/>
              </a:rPr>
              <a:t>One run per configuration. Results match the hypotheses (GBFS fewer nodes, A* better route cost) but the gaps are small and need repeated seeds.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Validation: Software Checks vs Experimental Measurements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207008"/>
            <a:ext cx="5266944" cy="502920"/>
          </a:xfrm>
          <a:prstGeom prst="roundRect">
            <a:avLst>
              <a:gd name="adj" fmla="val 8000"/>
            </a:avLst>
          </a:prstGeom>
          <a:solidFill>
            <a:srgbClr val="1B2A49"/>
          </a:solidFill>
          <a:ln w="15875">
            <a:solidFill>
              <a:srgbClr val="1B2A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Software validation (functional checks)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28800"/>
            <a:ext cx="5074920" cy="3291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All four scenarios terminate within their configured limits.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Planned routes respect obstacle geometry and world bounds.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Alpha–Beta is exercised when tactical threats are present.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Routes change when the state changes (dynamic replanning).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Anti-oscillation logic prevents repeated back-and-forth movement.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Infection changes the number and location of zombie threats.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486400" cy="4023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355080" y="1207008"/>
            <a:ext cx="5266944" cy="502920"/>
          </a:xfrm>
          <a:prstGeom prst="roundRect">
            <a:avLst>
              <a:gd name="adj" fmla="val 8000"/>
            </a:avLst>
          </a:prstGeom>
          <a:solidFill>
            <a:srgbClr val="0E7C86"/>
          </a:solidFill>
          <a:ln w="15875">
            <a:solidFill>
              <a:srgbClr val="0E7C8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Experimental measurements (A* vs GBFS)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828800"/>
            <a:ext cx="5074920" cy="3291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Eight recorded runs: four scenarios × two planners.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Metrics: planning calls, success rate, nodes expanded, planning time, route length, rescued and infected.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Alpha–Beta pruning was recorded in every run (prunes greater than zero).</a:t>
            </a:r>
          </a:p>
          <a:p>
            <a:pPr marL="201168" indent="-201168" algn="l">
              <a:spcAft>
                <a:spcPts val="800"/>
              </a:spcAft>
              <a:buClr>
                <a:srgbClr val="A40C46"/>
              </a:buClr>
              <a:buChar char="•"/>
            </a:pPr>
            <a:r>
              <a:rPr sz="1600" b="0" i="0">
                <a:solidFill>
                  <a:srgbClr val="2D2D2D"/>
                </a:solidFill>
                <a:latin typeface="Times New Roman"/>
              </a:rPr>
              <a:t>Single run per configuration; repeated seeds are still needed for robust claims.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349240"/>
            <a:ext cx="11274552" cy="731520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5875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36576" rIns="182880" bIns="36576" rtlCol="0" anchor="ctr"/>
          <a:lstStyle/>
          <a:p>
            <a:pPr algn="l"/>
            <a:r>
              <a:rPr sz="1300" b="1" i="0">
                <a:solidFill>
                  <a:srgbClr val="A40C46"/>
                </a:solidFill>
                <a:latin typeface="Times New Roman"/>
              </a:rPr>
              <a:t>Keep them separate: </a:t>
            </a:r>
            <a:r>
              <a:rPr sz="1300" b="0" i="0">
                <a:solidFill>
                  <a:srgbClr val="2D2D2D"/>
                </a:solidFill>
                <a:latin typeface="Times New Roman"/>
              </a:rPr>
              <a:t>passing software tests show the code behaves as designed. They are not path-planning performance results, which come only from the comparison measurements.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bar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Footer text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457200" y="347472"/>
            <a:ext cx="11247120" cy="47548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/>
            <a:r>
              <a:rPr sz="2800" b="1" i="0">
                <a:solidFill>
                  <a:srgbClr val="A40C46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4552" cy="841248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36576" rIns="777240" bIns="36576" rtlCol="0" anchor="ctr"/>
          <a:lstStyle/>
          <a:p>
            <a:pPr algn="l"/>
            <a:r>
              <a:rPr sz="1700" b="0" i="0">
                <a:solidFill>
                  <a:srgbClr val="2D2D2D"/>
                </a:solidFill>
                <a:latin typeface="Times New Roman"/>
              </a:rPr>
              <a:t>Built a continuous-space multi-agent zombie survival and escape simulator with shared environment, zombie and tactical components.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35331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03120"/>
            <a:ext cx="1127455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36576" rIns="777240" bIns="36576" rtlCol="0" anchor="ctr"/>
          <a:lstStyle/>
          <a:p>
            <a:pPr algn="l"/>
            <a:r>
              <a:rPr sz="1700" b="0" i="0">
                <a:solidFill>
                  <a:srgbClr val="2D2D2D"/>
                </a:solidFill>
                <a:latin typeface="Times New Roman"/>
              </a:rPr>
              <a:t>Compared A* and GBFS on the same visibility graph, with identical scenarios, zombie behavior and Alpha–Beta settings.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31343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063240"/>
            <a:ext cx="11274552" cy="841248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36576" rIns="777240" bIns="36576" rtlCol="0" anchor="ctr"/>
          <a:lstStyle/>
          <a:p>
            <a:pPr algn="l"/>
            <a:r>
              <a:rPr sz="1700" b="0" i="0">
                <a:solidFill>
                  <a:srgbClr val="2D2D2D"/>
                </a:solidFill>
                <a:latin typeface="Times New Roman"/>
              </a:rPr>
              <a:t>In the recorded run, GBFS expanded fewer nodes and A* found shorter routes in every scenario; planning time was mixed.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27355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023360"/>
            <a:ext cx="11274552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1E1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36576" rIns="777240" bIns="36576" rtlCol="0" anchor="ctr"/>
          <a:lstStyle/>
          <a:p>
            <a:pPr algn="l"/>
            <a:r>
              <a:rPr sz="1700" b="0" i="0">
                <a:solidFill>
                  <a:srgbClr val="2D2D2D"/>
                </a:solidFill>
                <a:latin typeface="Times New Roman"/>
              </a:rPr>
              <a:t>Rescue and infection outcomes were identical for both planners, so the shared Alpha–Beta controller shaped them as much as the planner.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23367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983480"/>
            <a:ext cx="11274552" cy="841248"/>
          </a:xfrm>
          <a:prstGeom prst="roundRect">
            <a:avLst>
              <a:gd name="adj" fmla="val 8000"/>
            </a:avLst>
          </a:prstGeom>
          <a:solidFill>
            <a:srgbClr val="F9E4EC"/>
          </a:solidFill>
          <a:ln w="12700">
            <a:solidFill>
              <a:srgbClr val="A40C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77240" tIns="36576" rIns="777240" bIns="36576" rtlCol="0" anchor="ctr"/>
          <a:lstStyle/>
          <a:p>
            <a:pPr algn="l"/>
            <a:r>
              <a:rPr sz="1700" b="0" i="0">
                <a:solidFill>
                  <a:srgbClr val="2D2D2D"/>
                </a:solidFill>
                <a:latin typeface="Times New Roman"/>
              </a:rPr>
              <a:t>The trade-off is search effort against route quality; repeated seeds are needed to confirm it.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5193792"/>
            <a:ext cx="420624" cy="420624"/>
          </a:xfrm>
          <a:prstGeom prst="ellipse">
            <a:avLst/>
          </a:prstGeom>
          <a:solidFill>
            <a:srgbClr val="A40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36576" rIns="0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37960"/>
            <a:ext cx="12191999" cy="320040"/>
          </a:xfrm>
          <a:prstGeom prst="rect">
            <a:avLst/>
          </a:prstGeom>
          <a:solidFill>
            <a:srgbClr val="A40C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0" y="6574536"/>
            <a:ext cx="3657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750" b="1" i="0">
                <a:solidFill>
                  <a:srgbClr val="FFFFFF"/>
                </a:solidFill>
                <a:latin typeface="Times New Roman"/>
              </a:rPr>
              <a:t>AMRITA VISHWA VIDYAPEETHAM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88920"/>
            <a:ext cx="112471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
                  <a:srgbClr val="A40C46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1419</Words>
  <Application>Microsoft Office PowerPoint</Application>
  <PresentationFormat>Widescreen</PresentationFormat>
  <Paragraphs>265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Raj Solanki</cp:lastModifiedBy>
  <cp:revision>5</cp:revision>
  <dcterms:created xsi:type="dcterms:W3CDTF">2013-01-27T09:14:16Z</dcterms:created>
  <dcterms:modified xsi:type="dcterms:W3CDTF">2026-10-13T19:24:08Z</dcterms:modified>
  <cp:category/>
</cp:coreProperties>
</file>